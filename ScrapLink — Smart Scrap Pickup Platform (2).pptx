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9144000" cx="16256000"/>
  <p:notesSz cx="9144000" cy="16256000"/>
  <p:embeddedFontLst>
    <p:embeddedFont>
      <p:font typeface="Liter"/>
      <p:regular r:id="rId20"/>
    </p:embeddedFont>
    <p:embeddedFont>
      <p:font typeface="Hedvig Letters Sans"/>
      <p:regular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ter-regular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HedvigLettersSans-regular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Quattrocento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524000" y="15494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1270000" y="2032000"/>
            <a:ext cx="11430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SCRAPLINK</a:t>
            </a:r>
            <a:endParaRPr b="0" i="0" sz="7200" u="none" cap="none" strike="noStrike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SMART SCRAP PICKUP</a:t>
            </a:r>
            <a:endParaRPr b="0" i="0" sz="7200" u="none" cap="none" strike="noStrike"/>
          </a:p>
        </p:txBody>
      </p:sp>
      <p:sp>
        <p:nvSpPr>
          <p:cNvPr id="19" name="Google Shape;19;p4"/>
          <p:cNvSpPr/>
          <p:nvPr/>
        </p:nvSpPr>
        <p:spPr>
          <a:xfrm>
            <a:off x="1270000" y="5461000"/>
            <a:ext cx="660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Schedule. Pickup. Impact.</a:t>
            </a:r>
            <a:endParaRPr b="0" i="0" sz="1600" u="none" cap="none" strike="noStrike"/>
          </a:p>
        </p:txBody>
      </p:sp>
      <p:pic>
        <p:nvPicPr>
          <p:cNvPr descr="https://images.unsplash.com/photo-1542601906990-b4d3fb778b09?w=800&amp;q=80" id="20" name="Google Shape;20;p4"/>
          <p:cNvPicPr preferRelativeResize="0"/>
          <p:nvPr/>
        </p:nvPicPr>
        <p:blipFill rotWithShape="1">
          <a:blip r:embed="rId3">
            <a:alphaModFix/>
          </a:blip>
          <a:srcRect b="17753" l="0" r="0" t="17753"/>
          <a:stretch/>
        </p:blipFill>
        <p:spPr>
          <a:xfrm>
            <a:off x="8128000" y="5461000"/>
            <a:ext cx="6604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1270000" y="1905000"/>
            <a:ext cx="11760489" cy="1142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28" name="Google Shape;28;p5"/>
          <p:cNvSpPr/>
          <p:nvPr/>
        </p:nvSpPr>
        <p:spPr>
          <a:xfrm>
            <a:off x="1447337" y="3352772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waste collection gap</a:t>
            </a:r>
            <a:endParaRPr b="0" i="0" sz="1600" u="none" cap="none" strike="noStrike"/>
          </a:p>
        </p:txBody>
      </p:sp>
      <p:sp>
        <p:nvSpPr>
          <p:cNvPr id="29" name="Google Shape;29;p5"/>
          <p:cNvSpPr/>
          <p:nvPr/>
        </p:nvSpPr>
        <p:spPr>
          <a:xfrm>
            <a:off x="1345731" y="4343528"/>
            <a:ext cx="13132254" cy="3606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Many households generate recyclable waste such as paper, plastic, and metal, but they do not have a reliable and convenient way to schedule scrap pickups.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Kabadiwalas usually follow fixed routes and often visit homes when scrap is not ready, which leads to wasted time, fuel, and effort.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Due to the absence of proper tracking and data, it is difficult to measure the environmental impact of recycling activities and improve waste collection efficiency.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images.unsplash.com/photo-1512941937669-90a1b58e7e9c?w=800&amp;q=80" id="36" name="Google Shape;36;p6"/>
          <p:cNvPicPr preferRelativeResize="0"/>
          <p:nvPr/>
        </p:nvPicPr>
        <p:blipFill rotWithShape="1">
          <a:blip r:embed="rId3">
            <a:alphaModFix/>
          </a:blip>
          <a:srcRect b="0" l="22338" r="22338" t="0"/>
          <a:stretch/>
        </p:blipFill>
        <p:spPr>
          <a:xfrm>
            <a:off x="1524000" y="1473200"/>
            <a:ext cx="5969000" cy="71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8128000" y="14732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PROPOSED</a:t>
            </a:r>
            <a:endParaRPr b="0" i="0" sz="5600" u="none" cap="none" strike="noStrike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SOLUTION</a:t>
            </a:r>
            <a:endParaRPr b="0" i="0" sz="5600" u="none" cap="none" strike="noStrike"/>
          </a:p>
        </p:txBody>
      </p:sp>
      <p:sp>
        <p:nvSpPr>
          <p:cNvPr id="38" name="Google Shape;38;p6"/>
          <p:cNvSpPr/>
          <p:nvPr/>
        </p:nvSpPr>
        <p:spPr>
          <a:xfrm>
            <a:off x="8128000" y="3175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ScrapLink mobile application</a:t>
            </a:r>
            <a:endParaRPr b="0" i="0" sz="2400" u="none" cap="none" strike="noStrike"/>
          </a:p>
        </p:txBody>
      </p:sp>
      <p:sp>
        <p:nvSpPr>
          <p:cNvPr id="39" name="Google Shape;39;p6"/>
          <p:cNvSpPr/>
          <p:nvPr/>
        </p:nvSpPr>
        <p:spPr>
          <a:xfrm>
            <a:off x="8128000" y="37338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8128000" y="38862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7958"/>
                </a:solidFill>
                <a:latin typeface="Liter"/>
                <a:ea typeface="Liter"/>
                <a:cs typeface="Liter"/>
                <a:sym typeface="Liter"/>
              </a:rPr>
              <a:t>For Households</a:t>
            </a:r>
            <a:endParaRPr b="0" i="0" sz="1600" u="none" cap="none" strike="noStrike"/>
          </a:p>
        </p:txBody>
      </p:sp>
      <p:sp>
        <p:nvSpPr>
          <p:cNvPr id="41" name="Google Shape;41;p6"/>
          <p:cNvSpPr/>
          <p:nvPr/>
        </p:nvSpPr>
        <p:spPr>
          <a:xfrm>
            <a:off x="8128000" y="4343400"/>
            <a:ext cx="685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 pickups, select materials, receive reminders, and track recycling impact.</a:t>
            </a:r>
            <a:endParaRPr b="0" i="0" sz="2000" u="none" cap="none" strike="noStrike"/>
          </a:p>
        </p:txBody>
      </p:sp>
      <p:sp>
        <p:nvSpPr>
          <p:cNvPr id="42" name="Google Shape;42;p6"/>
          <p:cNvSpPr/>
          <p:nvPr/>
        </p:nvSpPr>
        <p:spPr>
          <a:xfrm>
            <a:off x="8128000" y="54610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128000" y="56134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Kabadiwalas</a:t>
            </a:r>
            <a:endParaRPr b="0" i="0" sz="1600" u="none" cap="none" strike="noStrike"/>
          </a:p>
        </p:txBody>
      </p:sp>
      <p:sp>
        <p:nvSpPr>
          <p:cNvPr id="44" name="Google Shape;44;p6"/>
          <p:cNvSpPr/>
          <p:nvPr/>
        </p:nvSpPr>
        <p:spPr>
          <a:xfrm>
            <a:off x="8128000" y="6070600"/>
            <a:ext cx="685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requests, plan routes efficiently, track earnings, and manage customers.</a:t>
            </a:r>
            <a:endParaRPr b="0" i="0" sz="2000" u="none" cap="none" strike="noStrike"/>
          </a:p>
        </p:txBody>
      </p:sp>
      <p:sp>
        <p:nvSpPr>
          <p:cNvPr id="45" name="Google Shape;45;p6"/>
          <p:cNvSpPr/>
          <p:nvPr/>
        </p:nvSpPr>
        <p:spPr>
          <a:xfrm>
            <a:off x="8128000" y="71882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8128000" y="73406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the Environment</a:t>
            </a:r>
            <a:endParaRPr b="0" i="0" sz="1600" u="none" cap="none" strike="noStrike"/>
          </a:p>
        </p:txBody>
      </p:sp>
      <p:sp>
        <p:nvSpPr>
          <p:cNvPr id="47" name="Google Shape;47;p6"/>
          <p:cNvSpPr/>
          <p:nvPr/>
        </p:nvSpPr>
        <p:spPr>
          <a:xfrm>
            <a:off x="8128000" y="7797800"/>
            <a:ext cx="685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digital bridge connecting communities to sustainable waste management.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images.unsplash.com/photo-1532996122724-e3c354a0b15b?w=800&amp;q=80" id="54" name="Google Shape;54;p7"/>
          <p:cNvPicPr preferRelativeResize="0"/>
          <p:nvPr/>
        </p:nvPicPr>
        <p:blipFill rotWithShape="1">
          <a:blip r:embed="rId3">
            <a:alphaModFix/>
          </a:blip>
          <a:srcRect b="0" l="19395" r="19395" t="0"/>
          <a:stretch/>
        </p:blipFill>
        <p:spPr>
          <a:xfrm>
            <a:off x="1524000" y="1473200"/>
            <a:ext cx="6604000" cy="71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8890000" y="1473200"/>
            <a:ext cx="6096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PROJECT</a:t>
            </a:r>
            <a:endParaRPr b="0" i="0" sz="5600" u="none" cap="none" strike="noStrike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OBJECTIVES</a:t>
            </a:r>
            <a:endParaRPr b="0" i="0" sz="560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8890000" y="3429000"/>
            <a:ext cx="5842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 communication between households and kabadiwalas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 unnecessary trips and fuel consumption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 recycling efficiency and waste collection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 useful data on waste collection and recycling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sustainable and environmentally friendly waste management</a:t>
            </a:r>
            <a:endParaRPr b="0" i="0" sz="2000" u="none" cap="none" strike="noStrike"/>
          </a:p>
        </p:txBody>
      </p:sp>
      <p:sp>
        <p:nvSpPr>
          <p:cNvPr id="57" name="Google Shape;57;p7"/>
          <p:cNvSpPr/>
          <p:nvPr/>
        </p:nvSpPr>
        <p:spPr>
          <a:xfrm>
            <a:off x="8890000" y="8128000"/>
            <a:ext cx="5842000" cy="660400"/>
          </a:xfrm>
          <a:prstGeom prst="rect">
            <a:avLst/>
          </a:prstGeom>
          <a:solidFill>
            <a:srgbClr val="3B795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9093200" y="817880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5 core objectives driving sustainable change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524000" y="1879622"/>
            <a:ext cx="13132017" cy="1168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TARGET  USERS</a:t>
            </a:r>
            <a:endParaRPr b="0" i="0" sz="5600" u="none" cap="none" strike="noStrike"/>
          </a:p>
        </p:txBody>
      </p:sp>
      <p:sp>
        <p:nvSpPr>
          <p:cNvPr id="66" name="Google Shape;66;p8"/>
          <p:cNvSpPr/>
          <p:nvPr/>
        </p:nvSpPr>
        <p:spPr>
          <a:xfrm>
            <a:off x="1524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Households</a:t>
            </a:r>
            <a:endParaRPr b="0" i="0" sz="160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1524000" y="4394200"/>
            <a:ext cx="4191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Families and individuals who generate recyclable waste and want convenient pickup services at their doorstep.</a:t>
            </a:r>
            <a:endParaRPr b="0" i="0" sz="200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6350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Kabadiwalas</a:t>
            </a:r>
            <a:endParaRPr b="0" i="0" sz="1600" u="none" cap="none" strike="noStrike"/>
          </a:p>
        </p:txBody>
      </p:sp>
      <p:sp>
        <p:nvSpPr>
          <p:cNvPr id="69" name="Google Shape;69;p8"/>
          <p:cNvSpPr/>
          <p:nvPr/>
        </p:nvSpPr>
        <p:spPr>
          <a:xfrm>
            <a:off x="6350000" y="4394200"/>
            <a:ext cx="4191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scrap collectors who collect recyclable materials from homes and sell them to recycling centers for livelihood.</a:t>
            </a:r>
            <a:endParaRPr b="0" i="0" sz="2000" u="none" cap="none" strike="noStrike"/>
          </a:p>
        </p:txBody>
      </p:sp>
      <p:sp>
        <p:nvSpPr>
          <p:cNvPr id="70" name="Google Shape;70;p8"/>
          <p:cNvSpPr/>
          <p:nvPr/>
        </p:nvSpPr>
        <p:spPr>
          <a:xfrm>
            <a:off x="11176000" y="3810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Organizations</a:t>
            </a:r>
            <a:endParaRPr b="0" i="0" sz="1600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11176000" y="4394200"/>
            <a:ext cx="403863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Municipal bodies, companies, and environmental organizations interested in improving waste management and sustainability.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3891318" y="1617994"/>
            <a:ext cx="7112000" cy="109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KEY  FEATURES</a:t>
            </a:r>
            <a:endParaRPr b="0" i="0" sz="1600" u="none" cap="none" strike="noStrike"/>
          </a:p>
        </p:txBody>
      </p:sp>
      <p:sp>
        <p:nvSpPr>
          <p:cNvPr id="79" name="Google Shape;79;p9"/>
          <p:cNvSpPr/>
          <p:nvPr/>
        </p:nvSpPr>
        <p:spPr>
          <a:xfrm>
            <a:off x="4399318" y="2714117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Built for both sides</a:t>
            </a:r>
            <a:endParaRPr b="0" i="0" sz="1600" u="none" cap="none" strike="noStrike"/>
          </a:p>
        </p:txBody>
      </p:sp>
      <p:sp>
        <p:nvSpPr>
          <p:cNvPr id="80" name="Google Shape;80;p9"/>
          <p:cNvSpPr/>
          <p:nvPr/>
        </p:nvSpPr>
        <p:spPr>
          <a:xfrm>
            <a:off x="1270000" y="4673600"/>
            <a:ext cx="584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Households</a:t>
            </a:r>
            <a:endParaRPr b="0" i="0" sz="1600" u="none" cap="none" strike="noStrike"/>
          </a:p>
        </p:txBody>
      </p:sp>
      <p:sp>
        <p:nvSpPr>
          <p:cNvPr id="81" name="Google Shape;81;p9"/>
          <p:cNvSpPr/>
          <p:nvPr/>
        </p:nvSpPr>
        <p:spPr>
          <a:xfrm>
            <a:off x="1270000" y="5180452"/>
            <a:ext cx="5842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 scrap pickup easily using the mobile app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different types of recyclable materials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Choose preferred pickup date and time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reminders before the pickup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environmental impact and recycling history</a:t>
            </a:r>
            <a:endParaRPr b="0" i="0" sz="2000" u="none" cap="none" strike="noStrike"/>
          </a:p>
        </p:txBody>
      </p:sp>
      <p:sp>
        <p:nvSpPr>
          <p:cNvPr id="82" name="Google Shape;82;p9"/>
          <p:cNvSpPr/>
          <p:nvPr/>
        </p:nvSpPr>
        <p:spPr>
          <a:xfrm>
            <a:off x="8469058" y="4673600"/>
            <a:ext cx="5842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Kabadiwalas</a:t>
            </a:r>
            <a:endParaRPr b="0" i="0" sz="1600" u="none" cap="none" strike="noStrike"/>
          </a:p>
        </p:txBody>
      </p:sp>
      <p:sp>
        <p:nvSpPr>
          <p:cNvPr id="83" name="Google Shape;83;p9"/>
          <p:cNvSpPr/>
          <p:nvPr/>
        </p:nvSpPr>
        <p:spPr>
          <a:xfrm>
            <a:off x="8469058" y="5314388"/>
            <a:ext cx="5650663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 and manage pickup requests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Plan daily routes efficiently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earnings and completed pickups</a:t>
            </a:r>
            <a:endParaRPr b="0" i="0" sz="20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Maintain customer records</a:t>
            </a:r>
            <a:endParaRPr b="0" i="0" sz="2000" u="none" cap="none" strike="noStrike"/>
          </a:p>
        </p:txBody>
      </p:sp>
      <p:sp>
        <p:nvSpPr>
          <p:cNvPr id="84" name="Google Shape;84;p9"/>
          <p:cNvSpPr/>
          <p:nvPr/>
        </p:nvSpPr>
        <p:spPr>
          <a:xfrm>
            <a:off x="-2094521" y="6872829"/>
            <a:ext cx="881781" cy="12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8128000" y="1855874"/>
            <a:ext cx="7112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HOW THE</a:t>
            </a:r>
            <a:endParaRPr b="0" i="0" sz="5600" u="none" cap="none" strike="noStrike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SYSTEM WORKS</a:t>
            </a:r>
            <a:endParaRPr b="0" i="0" sz="56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8128000" y="3643058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Six simple steps from scrap to sustainability</a:t>
            </a:r>
            <a:endParaRPr b="0" i="0" sz="2400" u="none" cap="none" strike="noStrike"/>
          </a:p>
        </p:txBody>
      </p:sp>
      <p:sp>
        <p:nvSpPr>
          <p:cNvPr id="93" name="Google Shape;93;p10"/>
          <p:cNvSpPr/>
          <p:nvPr/>
        </p:nvSpPr>
        <p:spPr>
          <a:xfrm>
            <a:off x="8128000" y="46736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8128000" y="48006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1: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Household registers in the ScrapLink app</a:t>
            </a:r>
            <a:endParaRPr b="0" i="0" sz="2000" u="none" cap="none" strike="noStrike"/>
          </a:p>
        </p:txBody>
      </p:sp>
      <p:sp>
        <p:nvSpPr>
          <p:cNvPr id="95" name="Google Shape;95;p10"/>
          <p:cNvSpPr/>
          <p:nvPr/>
        </p:nvSpPr>
        <p:spPr>
          <a:xfrm>
            <a:off x="8128000" y="55372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2: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 selects scrap materials to collect</a:t>
            </a:r>
            <a:endParaRPr b="0" i="0" sz="200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8128000" y="62738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3: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User schedules pickup date and time</a:t>
            </a:r>
            <a:endParaRPr b="0" i="0" sz="2000" u="none" cap="none" strike="noStrike"/>
          </a:p>
        </p:txBody>
      </p:sp>
      <p:sp>
        <p:nvSpPr>
          <p:cNvPr id="97" name="Google Shape;97;p10"/>
          <p:cNvSpPr/>
          <p:nvPr/>
        </p:nvSpPr>
        <p:spPr>
          <a:xfrm>
            <a:off x="8128000" y="70104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4: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Kabadiwala receives the request notification</a:t>
            </a:r>
            <a:endParaRPr b="0" i="0" sz="2000" u="none" cap="none" strike="noStrike"/>
          </a:p>
        </p:txBody>
      </p:sp>
      <p:sp>
        <p:nvSpPr>
          <p:cNvPr id="98" name="Google Shape;98;p10"/>
          <p:cNvSpPr/>
          <p:nvPr/>
        </p:nvSpPr>
        <p:spPr>
          <a:xfrm>
            <a:off x="8128000" y="77470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5: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Kabadiwala visits and collects the scrap</a:t>
            </a:r>
            <a:endParaRPr b="0" i="0" sz="2000" u="none" cap="none" strike="noStrike"/>
          </a:p>
        </p:txBody>
      </p:sp>
      <p:pic>
        <p:nvPicPr>
          <p:cNvPr descr="https://kimi-img.moonshot.cn/pub/slides/26-04-28-20:03:54-d7oa4ahkotd9sosir6p0.png"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25" y="2120616"/>
            <a:ext cx="6615752" cy="5754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8128000" y="8483600"/>
            <a:ext cx="685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6:</a:t>
            </a: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records waste and updates impact data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images.unsplash.com/photo-1584622650111-993a426fbf0a?w=800&amp;q=80"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19395" r="19395" t="0"/>
          <a:stretch/>
        </p:blipFill>
        <p:spPr>
          <a:xfrm>
            <a:off x="1524000" y="1473200"/>
            <a:ext cx="6604000" cy="71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8890000" y="1817607"/>
            <a:ext cx="6096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HOUSEHOLD</a:t>
            </a:r>
            <a:endParaRPr b="0" i="0" sz="5600" u="none" cap="none" strike="noStrike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FEATURES</a:t>
            </a:r>
            <a:endParaRPr b="0" i="0" sz="5600" u="none" cap="none" strike="noStrike"/>
          </a:p>
        </p:txBody>
      </p:sp>
      <p:sp>
        <p:nvSpPr>
          <p:cNvPr id="109" name="Google Shape;109;p11"/>
          <p:cNvSpPr/>
          <p:nvPr/>
        </p:nvSpPr>
        <p:spPr>
          <a:xfrm>
            <a:off x="8890000" y="3849942"/>
            <a:ext cx="5842000" cy="3992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 upcoming scheduled pickups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 new scrap pickups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materials to recycle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recycling progress and environmental impact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notifications and reminders</a:t>
            </a:r>
            <a:endParaRPr b="0" i="0" sz="2000" u="none" cap="none" strike="noStrike"/>
          </a:p>
        </p:txBody>
      </p:sp>
      <p:sp>
        <p:nvSpPr>
          <p:cNvPr id="110" name="Google Shape;110;p11"/>
          <p:cNvSpPr/>
          <p:nvPr/>
        </p:nvSpPr>
        <p:spPr>
          <a:xfrm>
            <a:off x="8890000" y="8001000"/>
            <a:ext cx="5842000" cy="762000"/>
          </a:xfrm>
          <a:prstGeom prst="rect">
            <a:avLst/>
          </a:prstGeom>
          <a:solidFill>
            <a:srgbClr val="3B795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9093200" y="80518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Easy and convenient waste management for every home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1270000" y="1905000"/>
            <a:ext cx="13636595" cy="1369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PICKUP  SCHEDULING</a:t>
            </a:r>
            <a:endParaRPr b="0" i="0" sz="1600" u="none" cap="none" strike="noStrike"/>
          </a:p>
        </p:txBody>
      </p:sp>
      <p:sp>
        <p:nvSpPr>
          <p:cNvPr id="119" name="Google Shape;119;p12"/>
          <p:cNvSpPr/>
          <p:nvPr/>
        </p:nvSpPr>
        <p:spPr>
          <a:xfrm>
            <a:off x="1174331" y="3274256"/>
            <a:ext cx="134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Simple and user-friendly process</a:t>
            </a:r>
            <a:endParaRPr b="0" i="0" sz="1600" u="none" cap="none" strike="noStrike"/>
          </a:p>
        </p:txBody>
      </p:sp>
      <p:sp>
        <p:nvSpPr>
          <p:cNvPr id="120" name="Google Shape;120;p12"/>
          <p:cNvSpPr/>
          <p:nvPr/>
        </p:nvSpPr>
        <p:spPr>
          <a:xfrm>
            <a:off x="1174331" y="4380663"/>
            <a:ext cx="14146030" cy="3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Select the type of materials to be collected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Choose a suitable pickup date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Select a preferred time slot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Confirm the pickup request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process ensures efficient and timely waste collection for every household.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27" name="Google Shape;127;p13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524000" y="1524000"/>
            <a:ext cx="1143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ENVIRONMENTAL  IMPACT TRACKING</a:t>
            </a:r>
            <a:endParaRPr b="0" i="0" sz="5600" u="none" cap="none" strike="noStrike"/>
          </a:p>
        </p:txBody>
      </p:sp>
      <p:sp>
        <p:nvSpPr>
          <p:cNvPr id="129" name="Google Shape;129;p13"/>
          <p:cNvSpPr/>
          <p:nvPr/>
        </p:nvSpPr>
        <p:spPr>
          <a:xfrm>
            <a:off x="1524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Waste Collected</a:t>
            </a:r>
            <a:endParaRPr b="0" i="0" sz="1600" u="none" cap="none" strike="noStrike"/>
          </a:p>
        </p:txBody>
      </p:sp>
      <p:sp>
        <p:nvSpPr>
          <p:cNvPr id="130" name="Google Shape;130;p13"/>
          <p:cNvSpPr/>
          <p:nvPr/>
        </p:nvSpPr>
        <p:spPr>
          <a:xfrm>
            <a:off x="1524000" y="4394200"/>
            <a:ext cx="4191000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the total amount of waste collected over time, measured in kilograms and categorized by material type.</a:t>
            </a:r>
            <a:endParaRPr b="0" i="0" sz="2000" u="none" cap="none" strike="noStrike"/>
          </a:p>
        </p:txBody>
      </p:sp>
      <p:sp>
        <p:nvSpPr>
          <p:cNvPr id="131" name="Google Shape;131;p13"/>
          <p:cNvSpPr/>
          <p:nvPr/>
        </p:nvSpPr>
        <p:spPr>
          <a:xfrm>
            <a:off x="6350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Pickups Completed</a:t>
            </a:r>
            <a:endParaRPr b="0" i="0" sz="1600" u="none" cap="none" strike="noStrike"/>
          </a:p>
        </p:txBody>
      </p:sp>
      <p:sp>
        <p:nvSpPr>
          <p:cNvPr id="132" name="Google Shape;132;p13"/>
          <p:cNvSpPr/>
          <p:nvPr/>
        </p:nvSpPr>
        <p:spPr>
          <a:xfrm>
            <a:off x="6350000" y="4394200"/>
            <a:ext cx="4191000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 the number of successful pickups completed, building a history of positive environmental contributions.</a:t>
            </a:r>
            <a:endParaRPr b="0" i="0" sz="2000" u="none" cap="none" strike="noStrike"/>
          </a:p>
        </p:txBody>
      </p:sp>
      <p:sp>
        <p:nvSpPr>
          <p:cNvPr id="133" name="Google Shape;133;p13"/>
          <p:cNvSpPr/>
          <p:nvPr/>
        </p:nvSpPr>
        <p:spPr>
          <a:xfrm>
            <a:off x="11176000" y="3810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Carbon Reduction</a:t>
            </a:r>
            <a:endParaRPr b="0" i="0" sz="1600" u="none" cap="none" strike="noStrike"/>
          </a:p>
        </p:txBody>
      </p:sp>
      <p:sp>
        <p:nvSpPr>
          <p:cNvPr id="134" name="Google Shape;134;p13"/>
          <p:cNvSpPr/>
          <p:nvPr/>
        </p:nvSpPr>
        <p:spPr>
          <a:xfrm>
            <a:off x="11176000" y="4394200"/>
            <a:ext cx="4314209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 the reduction in carbon emissions achieved through responsible recycling and sustainable waste management.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41" name="Google Shape;141;p14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img.moonshot.cn/pub/slides/okc/afgh4ub7eqlmg/mnt/agents/output/scraplink/images/7_Kabadiwala_System_Change_Maker_in.png" id="142" name="Google Shape;142;p14"/>
          <p:cNvPicPr preferRelativeResize="0"/>
          <p:nvPr/>
        </p:nvPicPr>
        <p:blipFill rotWithShape="1">
          <a:blip r:embed="rId3">
            <a:alphaModFix/>
          </a:blip>
          <a:srcRect b="4840" l="0" r="0" t="4840"/>
          <a:stretch/>
        </p:blipFill>
        <p:spPr>
          <a:xfrm>
            <a:off x="1524000" y="1473200"/>
            <a:ext cx="5969000" cy="71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8128000" y="1473200"/>
            <a:ext cx="7112000" cy="1990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KABADIWALA</a:t>
            </a:r>
            <a:endParaRPr b="0" i="0" sz="5600" u="none" cap="none" strike="noStrike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FEATURES</a:t>
            </a:r>
            <a:endParaRPr b="0" i="0" sz="5600" u="none" cap="none" strike="noStrike"/>
          </a:p>
        </p:txBody>
      </p:sp>
      <p:sp>
        <p:nvSpPr>
          <p:cNvPr id="144" name="Google Shape;144;p14"/>
          <p:cNvSpPr/>
          <p:nvPr/>
        </p:nvSpPr>
        <p:spPr>
          <a:xfrm>
            <a:off x="8255000" y="3836537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Manage daily work efficiently</a:t>
            </a:r>
            <a:endParaRPr b="0" i="0" sz="2400" u="none" cap="none" strike="noStrike"/>
          </a:p>
        </p:txBody>
      </p:sp>
      <p:sp>
        <p:nvSpPr>
          <p:cNvPr id="145" name="Google Shape;145;p14"/>
          <p:cNvSpPr/>
          <p:nvPr/>
        </p:nvSpPr>
        <p:spPr>
          <a:xfrm>
            <a:off x="8128000" y="46736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128000" y="48260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Daily Schedule</a:t>
            </a:r>
            <a:endParaRPr b="0" i="0" sz="1600" u="none" cap="none" strike="noStrike"/>
          </a:p>
        </p:txBody>
      </p:sp>
      <p:sp>
        <p:nvSpPr>
          <p:cNvPr id="147" name="Google Shape;147;p14"/>
          <p:cNvSpPr/>
          <p:nvPr/>
        </p:nvSpPr>
        <p:spPr>
          <a:xfrm>
            <a:off x="8128000" y="52578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 today's pickup schedule at a glance</a:t>
            </a:r>
            <a:endParaRPr b="0" i="0" sz="2000" u="none" cap="none" strike="noStrike"/>
          </a:p>
        </p:txBody>
      </p:sp>
      <p:sp>
        <p:nvSpPr>
          <p:cNvPr id="148" name="Google Shape;148;p14"/>
          <p:cNvSpPr/>
          <p:nvPr/>
        </p:nvSpPr>
        <p:spPr>
          <a:xfrm>
            <a:off x="8128000" y="57404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8128000" y="58928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Request Management</a:t>
            </a:r>
            <a:endParaRPr b="0" i="0" sz="1600" u="none" cap="none" strike="noStrike"/>
          </a:p>
        </p:txBody>
      </p:sp>
      <p:sp>
        <p:nvSpPr>
          <p:cNvPr id="150" name="Google Shape;150;p14"/>
          <p:cNvSpPr/>
          <p:nvPr/>
        </p:nvSpPr>
        <p:spPr>
          <a:xfrm>
            <a:off x="8128000" y="6324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Accept or decline pickup requests instantly</a:t>
            </a:r>
            <a:endParaRPr b="0" i="0" sz="2000" u="none" cap="none" strike="noStrike"/>
          </a:p>
        </p:txBody>
      </p:sp>
      <p:sp>
        <p:nvSpPr>
          <p:cNvPr id="151" name="Google Shape;151;p14"/>
          <p:cNvSpPr/>
          <p:nvPr/>
        </p:nvSpPr>
        <p:spPr>
          <a:xfrm>
            <a:off x="8128000" y="68072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8128000" y="69596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Route &amp; Earnings</a:t>
            </a:r>
            <a:endParaRPr b="0" i="0" sz="1600" u="none" cap="none" strike="noStrike"/>
          </a:p>
        </p:txBody>
      </p:sp>
      <p:sp>
        <p:nvSpPr>
          <p:cNvPr id="153" name="Google Shape;153;p14"/>
          <p:cNvSpPr/>
          <p:nvPr/>
        </p:nvSpPr>
        <p:spPr>
          <a:xfrm>
            <a:off x="8128000" y="73914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 optimized routes and track daily earnings</a:t>
            </a:r>
            <a:endParaRPr b="0" i="0" sz="2000" u="none" cap="none" strike="noStrike"/>
          </a:p>
        </p:txBody>
      </p:sp>
      <p:sp>
        <p:nvSpPr>
          <p:cNvPr id="154" name="Google Shape;154;p14"/>
          <p:cNvSpPr/>
          <p:nvPr/>
        </p:nvSpPr>
        <p:spPr>
          <a:xfrm>
            <a:off x="8128000" y="7874000"/>
            <a:ext cx="7112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8128000" y="8026400"/>
            <a:ext cx="6858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Customer Records</a:t>
            </a:r>
            <a:endParaRPr b="0" i="0" sz="1600" u="none" cap="none" strike="noStrike"/>
          </a:p>
        </p:txBody>
      </p:sp>
      <p:sp>
        <p:nvSpPr>
          <p:cNvPr id="156" name="Google Shape;156;p14"/>
          <p:cNvSpPr/>
          <p:nvPr/>
        </p:nvSpPr>
        <p:spPr>
          <a:xfrm>
            <a:off x="8128000" y="84582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Maintain organized customer information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images.unsplash.com/photo-1554224155-6726b3ff858f?w=800&amp;q=80"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23644" r="23644" t="0"/>
          <a:stretch/>
        </p:blipFill>
        <p:spPr>
          <a:xfrm>
            <a:off x="1524000" y="1473200"/>
            <a:ext cx="6604000" cy="71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8890000" y="1984991"/>
            <a:ext cx="6380328" cy="1082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EARNINGS  TRACKING</a:t>
            </a:r>
            <a:endParaRPr b="0" i="0" sz="5600" u="none" cap="none" strike="noStrike"/>
          </a:p>
        </p:txBody>
      </p:sp>
      <p:sp>
        <p:nvSpPr>
          <p:cNvPr id="165" name="Google Shape;165;p15"/>
          <p:cNvSpPr/>
          <p:nvPr/>
        </p:nvSpPr>
        <p:spPr>
          <a:xfrm>
            <a:off x="8704239" y="3067334"/>
            <a:ext cx="6751851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earnings management system allows kabadiwalas to monitor their income easily.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Daily income tracking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Weekly and monthly earnings summary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Payment history records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withdrawal of earnings</a:t>
            </a:r>
            <a:endParaRPr b="0" i="0" sz="2000" u="none" cap="none" strike="noStrike"/>
          </a:p>
        </p:txBody>
      </p:sp>
      <p:sp>
        <p:nvSpPr>
          <p:cNvPr id="166" name="Google Shape;166;p15"/>
          <p:cNvSpPr/>
          <p:nvPr/>
        </p:nvSpPr>
        <p:spPr>
          <a:xfrm>
            <a:off x="8890000" y="8001000"/>
            <a:ext cx="5842000" cy="762000"/>
          </a:xfrm>
          <a:prstGeom prst="rect">
            <a:avLst/>
          </a:prstGeom>
          <a:solidFill>
            <a:srgbClr val="3B795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9093200" y="80518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Transparency and financial management for collectors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1524000" y="1524000"/>
            <a:ext cx="13439254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BENEFITS OF SCRAPLINK</a:t>
            </a:r>
            <a:endParaRPr b="0" i="0" sz="5600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1524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Households</a:t>
            </a:r>
            <a:endParaRPr b="0" i="0" sz="1600" u="none" cap="none" strike="noStrike"/>
          </a:p>
        </p:txBody>
      </p:sp>
      <p:sp>
        <p:nvSpPr>
          <p:cNvPr id="176" name="Google Shape;176;p16"/>
          <p:cNvSpPr/>
          <p:nvPr/>
        </p:nvSpPr>
        <p:spPr>
          <a:xfrm>
            <a:off x="1524000" y="4394200"/>
            <a:ext cx="4191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and convenient scrap pickup scheduling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Cleaner homes and surroundings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Saves time and effort</a:t>
            </a:r>
            <a:endParaRPr b="0" i="0" sz="2000" u="none" cap="none" strike="noStrike"/>
          </a:p>
        </p:txBody>
      </p:sp>
      <p:sp>
        <p:nvSpPr>
          <p:cNvPr id="177" name="Google Shape;177;p16"/>
          <p:cNvSpPr/>
          <p:nvPr/>
        </p:nvSpPr>
        <p:spPr>
          <a:xfrm>
            <a:off x="6350000" y="38100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Kabadiwalas</a:t>
            </a:r>
            <a:endParaRPr b="0" i="0" sz="1600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6350000" y="4394200"/>
            <a:ext cx="4191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route planning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Increased work efficiency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earnings opportunities</a:t>
            </a:r>
            <a:endParaRPr b="0" i="0" sz="2000" u="none" cap="none" strike="noStrike"/>
          </a:p>
        </p:txBody>
      </p:sp>
      <p:sp>
        <p:nvSpPr>
          <p:cNvPr id="179" name="Google Shape;179;p16"/>
          <p:cNvSpPr/>
          <p:nvPr/>
        </p:nvSpPr>
        <p:spPr>
          <a:xfrm>
            <a:off x="11176000" y="3810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3B795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For Society</a:t>
            </a:r>
            <a:endParaRPr b="0" i="0" sz="1600" u="none" cap="none" strike="noStrike"/>
          </a:p>
        </p:txBody>
      </p:sp>
      <p:sp>
        <p:nvSpPr>
          <p:cNvPr id="180" name="Google Shape;180;p16"/>
          <p:cNvSpPr/>
          <p:nvPr/>
        </p:nvSpPr>
        <p:spPr>
          <a:xfrm>
            <a:off x="11176000" y="4394200"/>
            <a:ext cx="35560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Increased recycling rates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 landfill waste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Improved environmental sustainability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1270000" y="1905000"/>
            <a:ext cx="1346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FUTURE  SCOPE</a:t>
            </a:r>
            <a:endParaRPr b="0" i="0" sz="1600" u="none" cap="none" strike="noStrike"/>
          </a:p>
        </p:txBody>
      </p:sp>
      <p:sp>
        <p:nvSpPr>
          <p:cNvPr id="188" name="Google Shape;188;p17"/>
          <p:cNvSpPr/>
          <p:nvPr/>
        </p:nvSpPr>
        <p:spPr>
          <a:xfrm>
            <a:off x="1270000" y="3392985"/>
            <a:ext cx="1346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Advanced enhancements ahead</a:t>
            </a:r>
            <a:endParaRPr b="0" i="0" sz="160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818866" y="4572000"/>
            <a:ext cx="14618269" cy="3442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route optimization for faster pickups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payment integration for secure transactions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Artificial Intelligence (AI) for demand prediction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Expansion to multiple cities across India</a:t>
            </a:r>
            <a:endParaRPr b="0" i="0" sz="20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 with municipal waste management systems</a:t>
            </a:r>
            <a:endParaRPr b="0" i="0" sz="20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7958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1270000" y="2032000"/>
            <a:ext cx="13552985" cy="225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0" u="none" cap="none" strike="noStrike">
                <a:solidFill>
                  <a:srgbClr val="1A1A1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BUILDING  A  CLEANER  FUTURE</a:t>
            </a:r>
            <a:endParaRPr b="0" i="0" sz="7200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1004627" y="4572000"/>
            <a:ext cx="7620000" cy="3332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ScrapLink connects households and kabadiwalas through technology.</a:t>
            </a:r>
            <a:endParaRPr b="0" i="0" sz="20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A1A1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Smarter cities start with responsible waste management.</a:t>
            </a:r>
            <a:endParaRPr b="0" i="0" sz="2000" u="none" cap="none" strike="noStrike"/>
          </a:p>
        </p:txBody>
      </p:sp>
      <p:pic>
        <p:nvPicPr>
          <p:cNvPr descr="https://images.unsplash.com/photo-1501854140801-50d01698950b?w=800&amp;q=80"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6367" r="6367" t="0"/>
          <a:stretch/>
        </p:blipFill>
        <p:spPr>
          <a:xfrm>
            <a:off x="9371463" y="3984388"/>
            <a:ext cx="5588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